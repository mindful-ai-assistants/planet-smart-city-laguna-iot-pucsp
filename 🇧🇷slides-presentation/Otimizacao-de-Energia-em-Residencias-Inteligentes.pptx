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</p:sldIdLst>
  <p:sldSz cx="14630400" cy="8229600"/>
  <p:notesSz cx="8229600" cy="14630400"/>
  <p:embeddedFontLst>
    <p:embeddedFont>
      <p:font typeface="Poppins Light" panose="00000400000000000000" pitchFamily="2" charset="0"/>
      <p:regular r:id="rId14"/>
    </p:embeddedFont>
    <p:embeddedFont>
      <p:font typeface="Roboto Bold" panose="02000000000000000000" pitchFamily="2" charset="0"/>
      <p:bold r:id="rId15"/>
    </p:embeddedFont>
    <p:embeddedFont>
      <p:font typeface="Roboto Light" panose="02000000000000000000" pitchFamily="2" charset="0"/>
      <p:regular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9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ndful-AI-Assistants/planet-smart-city-laguna-iot-pucs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01410" y="94587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Otimização de Energia em Residências Inteligentes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90101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projeto visa monitorar, prever e otimizar o consumo de energia elétrica em residências inteligentes, utilizando ciência de dados e inteligência artificial. Através da simulação de dados de sensores por cômodo, aplicamos aprendizado de máquina para antecipar padrões de consumo e propor ações eficazes de economia.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471636"/>
            <a:ext cx="317540" cy="317540"/>
          </a:xfrm>
          <a:prstGeom prst="roundRect">
            <a:avLst>
              <a:gd name="adj" fmla="val 28793492"/>
            </a:avLst>
          </a:prstGeom>
          <a:noFill/>
          <a:ln w="7620">
            <a:solidFill>
              <a:srgbClr val="3838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5479256"/>
            <a:ext cx="302300" cy="302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0508" y="5456753"/>
            <a:ext cx="213193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</a:t>
            </a:r>
            <a:r>
              <a:rPr lang="pt-BR" sz="1950" b="1" dirty="0">
                <a:solidFill>
                  <a:schemeClr val="bg1"/>
                </a:solidFill>
                <a:latin typeface="Segoe UI" panose="020B0502040204020203" pitchFamily="34" charset="0"/>
                <a:ea typeface="Roboto Bold" pitchFamily="34" charset="-122"/>
                <a:cs typeface="Roboto Bold" pitchFamily="34" charset="-120"/>
              </a:rPr>
              <a:t>A</a:t>
            </a:r>
            <a:r>
              <a:rPr lang="pt-BR" b="1" dirty="0">
                <a:solidFill>
                  <a:schemeClr val="bg1"/>
                </a:solidFill>
                <a:latin typeface="Segoe UI" panose="020B0502040204020203" pitchFamily="34" charset="0"/>
              </a:rPr>
              <a:t>ndson Andre Ribeiro</a:t>
            </a:r>
            <a:endParaRPr lang="en-US" sz="1950" b="1" dirty="0">
              <a:solidFill>
                <a:srgbClr val="E5E0DF"/>
              </a:solidFill>
              <a:latin typeface="Roboto Bold" pitchFamily="34" charset="0"/>
              <a:ea typeface="Roboto Bold" pitchFamily="34" charset="-122"/>
              <a:cs typeface="Roboto Bold" pitchFamily="34" charset="-120"/>
            </a:endParaRPr>
          </a:p>
          <a:p>
            <a:pPr>
              <a:lnSpc>
                <a:spcPts val="2400"/>
              </a:lnSpc>
            </a:pPr>
            <a:r>
              <a:rPr lang="pt-BR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Fabiana </a:t>
            </a:r>
            <a:r>
              <a:rPr lang="pt-BR" sz="20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Rotella</a:t>
            </a:r>
            <a:r>
              <a:rPr lang="pt-BR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20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Campaner</a:t>
            </a:r>
            <a:endParaRPr lang="pt-BR" sz="2000" b="1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>
              <a:lnSpc>
                <a:spcPts val="2400"/>
              </a:lnSpc>
            </a:pPr>
            <a:r>
              <a:rPr lang="pt-BR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Leonardo Xerez Fernandes</a:t>
            </a:r>
          </a:p>
          <a:p>
            <a:r>
              <a:rPr lang="pt-BR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Pedro </a:t>
            </a:r>
            <a:r>
              <a:rPr lang="pt-BR" sz="20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Vyctor</a:t>
            </a:r>
            <a:r>
              <a:rPr lang="pt-BR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Carvalho de Almeida</a:t>
            </a:r>
          </a:p>
        </p:txBody>
      </p:sp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889AE56-EDAA-A47B-C733-AD4D5BB71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09" y="283340"/>
            <a:ext cx="5990511" cy="7490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ídeo do WhatsApp de 2025-06-21 à(s) 19.06.14_89d2f33b">
            <a:hlinkClick r:id="" action="ppaction://media"/>
            <a:extLst>
              <a:ext uri="{FF2B5EF4-FFF2-40B4-BE49-F238E27FC236}">
                <a16:creationId xmlns:a16="http://schemas.microsoft.com/office/drawing/2014/main" id="{1E4EB579-52D8-85D2-B812-1337F71C66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4630400" cy="761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2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533876"/>
            <a:ext cx="7637264" cy="606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Objetivo e Pergunta de Negócio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6526" y="1625918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Objetivo do Projeto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76526" y="2123242"/>
            <a:ext cx="6301859" cy="155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Desenvolver uma solução para monitorar, prever e otimizar o consumo de energia elétrica em uma residência inteligente (Smart City Laguna). O projeto simula dados de sensores por cômodo e utiliza aprendizado de máquina para antecipar padrões de consumo e propor ações de economia.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830389" y="1618329"/>
            <a:ext cx="254150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Pergunta de Negócio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59635" y="2333805"/>
            <a:ext cx="6301859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Como podemos monitorar e prever o consumo de energia de uma residência inteligente com base em dados simulados de sensores por cômodo, a fim de propor ações para redução e eficiência energética?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690" y="3676412"/>
            <a:ext cx="8160641" cy="4176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162" y="366474"/>
            <a:ext cx="618910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Base de Dados e Pré-processamento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3162" y="1049536"/>
            <a:ext cx="135640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Utilizamos uma base de dados simulada com informações diárias de consumo total de energia (kWh) e acionamentos de sensores em cômodos específicos (Quarto1, Quarto2, Sala, Cozinha, Piscina). Os dados foram pré-processados para garantir a qualidade e a adequação para a modelagem.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3162" y="1746052"/>
            <a:ext cx="12999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Os dados foram carregados e convertidos para formatos apropriados, como a coluna 'Data' para datetime.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normalizamos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 consumo por acionamento para uma análise mais precisa.</a:t>
            </a:r>
            <a:endParaRPr lang="en-US" sz="1400" dirty="0"/>
          </a:p>
        </p:txBody>
      </p:sp>
      <p:pic>
        <p:nvPicPr>
          <p:cNvPr id="7" name="Imagem 6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F8FF4289-A7B9-480A-D1DD-454A14A3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86" y="2185924"/>
            <a:ext cx="9994628" cy="5839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341"/>
            <a:ext cx="89131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Evolução do Consumo e Correlação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4925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Analisamos a evolução temporal do consumo total de energia e a correlação entre os acionamentos dos cômodos e o consumo. Isso nos permitiu identificar os cômodos de maior impacto no consumo energético da residência.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646604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gráfico de evolução do consumo total de energia ao longo do tempo revela padrões e tendências, essenciais para entender o comportamento energético da residência.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587113" y="640399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correlação entre acionamentos e consumo de energia destaca a Sala como o cômodo com maior influência linear, seguido por Quarto1 e Piscina.</a:t>
            </a:r>
            <a:endParaRPr lang="en-US" sz="1550" dirty="0"/>
          </a:p>
        </p:txBody>
      </p:sp>
      <p:pic>
        <p:nvPicPr>
          <p:cNvPr id="9" name="Imagem 8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8E2E555D-5EDF-27D1-4D95-B4BFA522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18" y="4196729"/>
            <a:ext cx="3109985" cy="1748539"/>
          </a:xfrm>
          <a:prstGeom prst="rect">
            <a:avLst/>
          </a:prstGeom>
        </p:spPr>
      </p:pic>
      <p:pic>
        <p:nvPicPr>
          <p:cNvPr id="11" name="Imagem 10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85AB1E43-B481-1DFF-8C01-9D51A3B21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38366"/>
            <a:ext cx="6823182" cy="34115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9A0E7F-58D8-FCC0-9D87-8D9EF302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81" y="2755608"/>
            <a:ext cx="6519765" cy="317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5353"/>
            <a:ext cx="97719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 de Regressão Linear e Previsões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89" y="225150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Testamos um modelo de regressão linear para prever o consumo diário de energia com base nos acionamentos dos cômodos. O modelo demonstrou boa capacidade preditiva para o consumo futuro.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53584" y="668809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gráfico de consumo real vs. previsto mostra que a maioria dos pontos está próxima da linha ideal, indicando alta acurácia do modelo, especialmente em faixas médias de consumo.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4874" y="3919895"/>
            <a:ext cx="3015615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5227.8</a:t>
            </a:r>
            <a:endParaRPr lang="en-US" sz="5150" dirty="0"/>
          </a:p>
        </p:txBody>
      </p:sp>
      <p:sp>
        <p:nvSpPr>
          <p:cNvPr id="7" name="Text 4"/>
          <p:cNvSpPr/>
          <p:nvPr/>
        </p:nvSpPr>
        <p:spPr>
          <a:xfrm>
            <a:off x="7832169" y="4822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MSE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564874" y="5331381"/>
            <a:ext cx="30156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Erro Quadrático Médio, indicando um erro médio moderado.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28496" y="3919895"/>
            <a:ext cx="301573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0.86</a:t>
            </a:r>
            <a:endParaRPr lang="en-US" sz="5150" dirty="0"/>
          </a:p>
        </p:txBody>
      </p:sp>
      <p:sp>
        <p:nvSpPr>
          <p:cNvPr id="10" name="Text 7"/>
          <p:cNvSpPr/>
          <p:nvPr/>
        </p:nvSpPr>
        <p:spPr>
          <a:xfrm>
            <a:off x="11095911" y="4822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R²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28496" y="5331381"/>
            <a:ext cx="301573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86% da variação no consumo real é explicada pelo modelo, um bom indicador de desempenho.</a:t>
            </a:r>
            <a:endParaRPr lang="en-US" sz="15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56506D-F1C8-9238-C237-7D40FA71F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33" y="3103129"/>
            <a:ext cx="6798707" cy="336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140"/>
            <a:ext cx="90951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Análise de Correlação e Coeficientes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3005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análise de correlação de Pearson e os coeficientes do modelo linear revelam a influência de cada cômodo no consumo total de energia, destacando a Sala como o principal driver.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188375"/>
            <a:ext cx="13042821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01410" y="3195995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1197" y="332267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Sala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46621" y="3322677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0.548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88235" y="332267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25.79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766899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01197" y="389358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Quarto1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46621" y="3893582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0.521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88235" y="389358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23.36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337804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01197" y="446448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Piscina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46621" y="4464487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0.427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88235" y="446448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24.45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908709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01197" y="503539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Quarto2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46621" y="5035391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0.418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88235" y="503539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23.16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479613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01197" y="560629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Cozinha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46621" y="560629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0.410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688235" y="560629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23.49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93790" y="628138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Sala se destaca tanto na correlação quanto na previsão, enquanto a Piscina e a Cozinha, mesmo com correlações mais baixas, têm forte peso no consumo por acionamento.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939998"/>
            <a:ext cx="7247096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Teste de Hipótese e Conclusões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221016" y="1789509"/>
            <a:ext cx="7674769" cy="881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Realizamos um teste de hipótese com regressão linear para verificar o efeito estatisticamente significativo de cada cômodo no consumo de energia. Os resultados confirmam a relevância de todos os cômodos.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21016" y="2877622"/>
            <a:ext cx="413266" cy="413266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817876" y="2940725"/>
            <a:ext cx="239660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Impacto Significativo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17876" y="3337798"/>
            <a:ext cx="707790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Todos os cômodos têm impacto significativo no consumo de energia (p &lt; 0.001).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21016" y="3998952"/>
            <a:ext cx="413266" cy="413266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17876" y="4062055"/>
            <a:ext cx="277629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Sala: Maior Contribuição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17876" y="4459129"/>
            <a:ext cx="707790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Sala é o cômodo com maior contribuição marginal no consumo total.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21016" y="5120283"/>
            <a:ext cx="413266" cy="413266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817876" y="5183386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 Explicativo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17876" y="5580459"/>
            <a:ext cx="707790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modelo possui excelente capacidade explicativa (R² = 0.886).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21016" y="6241613"/>
            <a:ext cx="413266" cy="413266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817876" y="6304717"/>
            <a:ext cx="267521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Resíduos Comportados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17876" y="6701790"/>
            <a:ext cx="7077908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Os resíduos estão bem comportados (Durbin-Watson = 2.027; p-valor do teste JB = 0.624).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000" y="394692"/>
            <a:ext cx="6748939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Análise de Padrões de Uso por Cluster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4000" y="1130141"/>
            <a:ext cx="13482399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segmentação por clusters (k=2) revelou padrões comportamentais distintos no uso da energia, auxiliando na criação de estratégias de economia personalizadas.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6761" y="7631906"/>
            <a:ext cx="6566178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Cluster 0 representa um perfil de uso equilibrado, com acionamentos moderados em todos os ambientes. Já o Cluster 1 indica um perfil social, com alta frequência de uso em Sala e Cozinha.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497842" y="6623328"/>
            <a:ext cx="6566178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radar dos cômodos por cluster reforça que o Cluster 1 tem consumo mais elevado em áreas </a:t>
            </a:r>
            <a:r>
              <a:rPr lang="en-US" sz="11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sociais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, enquanto o Cluster 0 é mais eficiente.</a:t>
            </a:r>
            <a:endParaRPr lang="en-US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9AC9A7-3E31-4D85-FE87-FF56CF737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23" y="1499114"/>
            <a:ext cx="6067337" cy="593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2B9ACB0-20B8-5476-32EF-F6202DA1A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226" y="1848629"/>
            <a:ext cx="4521953" cy="442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70327"/>
            <a:ext cx="85172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Conclusão Final e Próximos Passos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8806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projeto demonstrou a viabilidade de monitorar e otimizar o consumo de energia em residências inteligentes através da análise de dados e aprendizado de máquina. As conclusões e recomendações por cluster oferecem um caminho claro para a eficiência energética.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346383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999768" y="55523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Principais Drivers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5981581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Sala é o principal driver de consumo, com Piscina e Cozinha tendo alto impacto por acionamento.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5346383"/>
            <a:ext cx="4215408" cy="1793796"/>
          </a:xfrm>
          <a:prstGeom prst="roundRect">
            <a:avLst>
              <a:gd name="adj" fmla="val 464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13415" y="5552361"/>
            <a:ext cx="27735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Estratégias por Cluster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413415" y="5981581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Recomendações personalizadas para cada cluster, focando em automação e uso consciente.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621203" y="5346383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9827181" y="5552361"/>
            <a:ext cx="28191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Potencial de Economia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827181" y="5981581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modelo preditivo e a segmentação por perfil abrem grandes oportunidades para redução de custos e otimização.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4801" y="190506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Obrigado!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240524" y="3450133"/>
            <a:ext cx="87492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Agradecemos sua atenção! Explore o código e os detalhes do projeto completo no GitHub.</a:t>
            </a:r>
            <a:endParaRPr lang="en-US" sz="1550" dirty="0"/>
          </a:p>
        </p:txBody>
      </p:sp>
      <p:pic>
        <p:nvPicPr>
          <p:cNvPr id="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01" y="4483772"/>
            <a:ext cx="2750344" cy="545783"/>
          </a:xfrm>
          <a:prstGeom prst="rect">
            <a:avLst/>
          </a:prstGeom>
        </p:spPr>
      </p:pic>
      <p:pic>
        <p:nvPicPr>
          <p:cNvPr id="8" name="Imagem 7" descr="Código QR&#10;&#10;O conteúdo gerado por IA pode estar incorreto.">
            <a:extLst>
              <a:ext uri="{FF2B5EF4-FFF2-40B4-BE49-F238E27FC236}">
                <a16:creationId xmlns:a16="http://schemas.microsoft.com/office/drawing/2014/main" id="{A5751AA0-E418-2559-C194-AB4CA3F5B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133" y="5363268"/>
            <a:ext cx="2592012" cy="25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6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862</Words>
  <Application>Microsoft Office PowerPoint</Application>
  <PresentationFormat>Personalizar</PresentationFormat>
  <Paragraphs>79</Paragraphs>
  <Slides>11</Slides>
  <Notes>10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Roboto Light</vt:lpstr>
      <vt:lpstr>Arial</vt:lpstr>
      <vt:lpstr>Segoe UI</vt:lpstr>
      <vt:lpstr>Poppins Light</vt:lpstr>
      <vt:lpstr>Roboto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Andson Andre da Silva Ribeiro</cp:lastModifiedBy>
  <cp:revision>5</cp:revision>
  <dcterms:created xsi:type="dcterms:W3CDTF">2025-06-23T00:08:33Z</dcterms:created>
  <dcterms:modified xsi:type="dcterms:W3CDTF">2025-06-23T01:55:54Z</dcterms:modified>
</cp:coreProperties>
</file>